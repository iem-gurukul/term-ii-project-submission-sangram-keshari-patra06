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Fredoka" charset="1" panose="02000000000000000000"/>
      <p:regular r:id="rId13"/>
    </p:embeddedFont>
    <p:embeddedFont>
      <p:font typeface="Roca Two" charset="1" panose="00000500000000000000"/>
      <p:regular r:id="rId14"/>
    </p:embeddedFont>
    <p:embeddedFont>
      <p:font typeface="Poppins Bold" charset="1" panose="00000800000000000000"/>
      <p:regular r:id="rId15"/>
    </p:embeddedFont>
    <p:embeddedFont>
      <p:font typeface="Poppins Bold Italics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Times New Roman MT Bold" charset="1" panose="02030802070405020303"/>
      <p:regular r:id="rId18"/>
    </p:embeddedFont>
    <p:embeddedFont>
      <p:font typeface="Roca Two Bold" charset="1" panose="00000800000000000000"/>
      <p:regular r:id="rId19"/>
    </p:embeddedFont>
    <p:embeddedFont>
      <p:font typeface="Beautifully Delicious Script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981926" cy="10287000"/>
          </a:xfrm>
          <a:custGeom>
            <a:avLst/>
            <a:gdLst/>
            <a:ahLst/>
            <a:cxnLst/>
            <a:rect r="r" b="b" t="t" l="l"/>
            <a:pathLst>
              <a:path h="10287000" w="3981926">
                <a:moveTo>
                  <a:pt x="0" y="0"/>
                </a:moveTo>
                <a:lnTo>
                  <a:pt x="3981926" y="0"/>
                </a:lnTo>
                <a:lnTo>
                  <a:pt x="39819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85097">
            <a:off x="11832225" y="-445677"/>
            <a:ext cx="10415786" cy="12060384"/>
          </a:xfrm>
          <a:custGeom>
            <a:avLst/>
            <a:gdLst/>
            <a:ahLst/>
            <a:cxnLst/>
            <a:rect r="r" b="b" t="t" l="l"/>
            <a:pathLst>
              <a:path h="12060384" w="10415786">
                <a:moveTo>
                  <a:pt x="0" y="0"/>
                </a:moveTo>
                <a:lnTo>
                  <a:pt x="10415786" y="0"/>
                </a:lnTo>
                <a:lnTo>
                  <a:pt x="10415786" y="12060384"/>
                </a:lnTo>
                <a:lnTo>
                  <a:pt x="0" y="120603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29459" y="1741635"/>
            <a:ext cx="11229082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EXPENSE TRACKER APP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67015" y="8398675"/>
            <a:ext cx="795397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By Sangram Keshari Patra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300744" y="3475185"/>
            <a:ext cx="11686512" cy="183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An offline Java application that enables users to securely track, categorize, and visualize their personal expenses and incomes without relying on cloud services.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33878" y="5754665"/>
            <a:ext cx="3620244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Target User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Students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freelancers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Roca Two"/>
                <a:ea typeface="Roca Two"/>
                <a:cs typeface="Roca Two"/>
                <a:sym typeface="Roca Two"/>
              </a:rPr>
              <a:t>professionals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76985"/>
            <a:ext cx="16113745" cy="9933030"/>
          </a:xfrm>
          <a:custGeom>
            <a:avLst/>
            <a:gdLst/>
            <a:ahLst/>
            <a:cxnLst/>
            <a:rect r="r" b="b" t="t" l="l"/>
            <a:pathLst>
              <a:path h="9933030" w="16113745">
                <a:moveTo>
                  <a:pt x="0" y="0"/>
                </a:moveTo>
                <a:lnTo>
                  <a:pt x="16113745" y="0"/>
                </a:lnTo>
                <a:lnTo>
                  <a:pt x="16113745" y="9933030"/>
                </a:lnTo>
                <a:lnTo>
                  <a:pt x="0" y="9933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641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9851" y="2067018"/>
            <a:ext cx="8516960" cy="7840015"/>
          </a:xfrm>
          <a:custGeom>
            <a:avLst/>
            <a:gdLst/>
            <a:ahLst/>
            <a:cxnLst/>
            <a:rect r="r" b="b" t="t" l="l"/>
            <a:pathLst>
              <a:path h="7840015" w="8516960">
                <a:moveTo>
                  <a:pt x="0" y="0"/>
                </a:moveTo>
                <a:lnTo>
                  <a:pt x="8516960" y="0"/>
                </a:lnTo>
                <a:lnTo>
                  <a:pt x="8516960" y="7840015"/>
                </a:lnTo>
                <a:lnTo>
                  <a:pt x="0" y="7840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2" r="-624" b="-55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2009868"/>
            <a:ext cx="8759403" cy="789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sz="1992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UI Layer (ui package)</a:t>
            </a:r>
          </a:p>
          <a:p>
            <a:pPr algn="l">
              <a:lnSpc>
                <a:spcPts val="2231"/>
              </a:lnSpc>
            </a:pPr>
            <a:r>
              <a:rPr lang="en-US" sz="1593" i="true" b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MainFrame - </a:t>
            </a:r>
            <a:r>
              <a:rPr lang="en-US" sz="15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ui (DashboardPanel, TransactionsPanel, CategoriesPanel), service (AppService)</a:t>
            </a:r>
          </a:p>
          <a:p>
            <a:pPr algn="l">
              <a:lnSpc>
                <a:spcPts val="2231"/>
              </a:lnSpc>
            </a:pPr>
            <a:r>
              <a:rPr lang="en-US" sz="1593" i="true" b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DashboardPanel - </a:t>
            </a:r>
            <a:r>
              <a:rPr lang="en-US" sz="15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service (AppService), model (Transaction, Category), util (AppUtils)</a:t>
            </a:r>
          </a:p>
          <a:p>
            <a:pPr algn="l">
              <a:lnSpc>
                <a:spcPts val="2231"/>
              </a:lnSpc>
            </a:pPr>
            <a:r>
              <a:rPr lang="en-US" b="true" sz="1593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TransactionsPanel - </a:t>
            </a:r>
            <a:r>
              <a:rPr lang="en-US" sz="15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service (AppService), model (Transaction, Expense, Income, Category), util (AppUtils)</a:t>
            </a:r>
          </a:p>
          <a:p>
            <a:pPr algn="l">
              <a:lnSpc>
                <a:spcPts val="2231"/>
              </a:lnSpc>
            </a:pPr>
            <a:r>
              <a:rPr lang="en-US" b="true" sz="1593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CategoriesPanel - </a:t>
            </a:r>
            <a:r>
              <a:rPr lang="en-US" sz="159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service (AppService), model (Category)</a:t>
            </a:r>
          </a:p>
          <a:p>
            <a:pPr algn="l">
              <a:lnSpc>
                <a:spcPts val="2231"/>
              </a:lnSpc>
            </a:pPr>
          </a:p>
          <a:p>
            <a:pPr algn="l">
              <a:lnSpc>
                <a:spcPts val="2789"/>
              </a:lnSpc>
            </a:pPr>
            <a:r>
              <a:rPr lang="en-US" sz="1992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Service Layer (service package)</a:t>
            </a:r>
          </a:p>
          <a:p>
            <a:pPr algn="l">
              <a:lnSpc>
                <a:spcPts val="2231"/>
              </a:lnSpc>
            </a:pPr>
            <a:r>
              <a:rPr lang="en-US" b="true" sz="1594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AppService - </a:t>
            </a:r>
            <a:r>
              <a:rPr lang="en-US" sz="15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database (DatabaseManager), model (Transaction, Expense, Income, Category), util (AppUtils), exception (AppException)</a:t>
            </a:r>
          </a:p>
          <a:p>
            <a:pPr algn="l">
              <a:lnSpc>
                <a:spcPts val="2231"/>
              </a:lnSpc>
            </a:pPr>
          </a:p>
          <a:p>
            <a:pPr algn="l">
              <a:lnSpc>
                <a:spcPts val="2789"/>
              </a:lnSpc>
            </a:pPr>
            <a:r>
              <a:rPr lang="en-US" sz="1992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Model Layer (model package)</a:t>
            </a:r>
          </a:p>
          <a:p>
            <a:pPr algn="l">
              <a:lnSpc>
                <a:spcPts val="2231"/>
              </a:lnSpc>
            </a:pPr>
            <a:r>
              <a:rPr lang="en-US" b="true" sz="1594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Transaction (abstract) - </a:t>
            </a:r>
            <a:r>
              <a:rPr lang="en-US" sz="15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(Category), java.time (LocalDateTime)</a:t>
            </a:r>
          </a:p>
          <a:p>
            <a:pPr algn="l">
              <a:lnSpc>
                <a:spcPts val="2231"/>
              </a:lnSpc>
            </a:pPr>
            <a:r>
              <a:rPr lang="en-US" sz="1594" i="true" b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Expense - </a:t>
            </a:r>
            <a:r>
              <a:rPr lang="en-US" sz="15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(Transaction, Category)</a:t>
            </a:r>
          </a:p>
          <a:p>
            <a:pPr algn="l">
              <a:lnSpc>
                <a:spcPts val="2231"/>
              </a:lnSpc>
            </a:pPr>
            <a:r>
              <a:rPr lang="en-US" sz="1594" i="true" b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Income - </a:t>
            </a:r>
            <a:r>
              <a:rPr lang="en-US" sz="15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(Transaction, Category)</a:t>
            </a:r>
          </a:p>
          <a:p>
            <a:pPr algn="l">
              <a:lnSpc>
                <a:spcPts val="2231"/>
              </a:lnSpc>
            </a:pPr>
          </a:p>
          <a:p>
            <a:pPr algn="l">
              <a:lnSpc>
                <a:spcPts val="2789"/>
              </a:lnSpc>
            </a:pPr>
            <a:r>
              <a:rPr lang="en-US" sz="1992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 Layer (database package)</a:t>
            </a:r>
          </a:p>
          <a:p>
            <a:pPr algn="l">
              <a:lnSpc>
                <a:spcPts val="2231"/>
              </a:lnSpc>
            </a:pPr>
            <a:r>
              <a:rPr lang="en-US" sz="1594" i="true" b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DatabaseManager - </a:t>
            </a:r>
            <a:r>
              <a:rPr lang="en-US" sz="15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 (Transaction, Expense, Income, Category), java.sql (Connection, ResultSet, etc.), util (AppUtils)</a:t>
            </a:r>
          </a:p>
          <a:p>
            <a:pPr algn="l">
              <a:lnSpc>
                <a:spcPts val="2231"/>
              </a:lnSpc>
            </a:pPr>
          </a:p>
          <a:p>
            <a:pPr algn="l">
              <a:lnSpc>
                <a:spcPts val="2789"/>
              </a:lnSpc>
            </a:pPr>
            <a:r>
              <a:rPr lang="en-US" sz="1992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Utility Layer (util package)</a:t>
            </a:r>
          </a:p>
          <a:p>
            <a:pPr algn="l">
              <a:lnSpc>
                <a:spcPts val="2231"/>
              </a:lnSpc>
            </a:pPr>
            <a:r>
              <a:rPr lang="en-US" sz="1594" i="true" b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AppUtils</a:t>
            </a:r>
            <a:r>
              <a:rPr lang="en-US" sz="15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 java.time (LocalDate, LocalDateTime, YearMonth), java.time.format (DateTimeFormatter)</a:t>
            </a:r>
          </a:p>
          <a:p>
            <a:pPr algn="l">
              <a:lnSpc>
                <a:spcPts val="2231"/>
              </a:lnSpc>
            </a:pPr>
          </a:p>
          <a:p>
            <a:pPr algn="l">
              <a:lnSpc>
                <a:spcPts val="2789"/>
              </a:lnSpc>
            </a:pPr>
            <a:r>
              <a:rPr lang="en-US" sz="1992" b="true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Exception Layer (exception package)</a:t>
            </a:r>
          </a:p>
          <a:p>
            <a:pPr algn="l">
              <a:lnSpc>
                <a:spcPts val="2231"/>
              </a:lnSpc>
            </a:pPr>
            <a:r>
              <a:rPr lang="en-US" sz="1594" i="true" b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AppException</a:t>
            </a:r>
            <a:r>
              <a:rPr lang="en-US" sz="15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- java.lang (Exception / RuntimeException)</a:t>
            </a:r>
          </a:p>
        </p:txBody>
      </p:sp>
      <p:sp>
        <p:nvSpPr>
          <p:cNvPr name="AutoShape 4" id="4"/>
          <p:cNvSpPr/>
          <p:nvPr/>
        </p:nvSpPr>
        <p:spPr>
          <a:xfrm>
            <a:off x="0" y="431149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106998" y="-168956"/>
            <a:ext cx="798705" cy="11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2"/>
              </a:lnSpc>
            </a:pPr>
            <a:r>
              <a:rPr lang="en-US" sz="6287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5967" y="690209"/>
            <a:ext cx="8384728" cy="137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4"/>
              </a:lnSpc>
            </a:pPr>
            <a:r>
              <a:rPr lang="en-US" b="true" sz="8074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SYSTEM DESIGN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83051">
            <a:off x="11093067" y="-872901"/>
            <a:ext cx="10750098" cy="12447482"/>
          </a:xfrm>
          <a:custGeom>
            <a:avLst/>
            <a:gdLst/>
            <a:ahLst/>
            <a:cxnLst/>
            <a:rect r="r" b="b" t="t" l="l"/>
            <a:pathLst>
              <a:path h="12447482" w="10750098">
                <a:moveTo>
                  <a:pt x="0" y="0"/>
                </a:moveTo>
                <a:lnTo>
                  <a:pt x="10750099" y="0"/>
                </a:lnTo>
                <a:lnTo>
                  <a:pt x="10750099" y="12447482"/>
                </a:lnTo>
                <a:lnTo>
                  <a:pt x="0" y="1244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431149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385791" y="664542"/>
            <a:ext cx="8107814" cy="137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4"/>
              </a:lnSpc>
            </a:pPr>
            <a:r>
              <a:rPr lang="en-US" b="true" sz="8074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OOP CONCEPTS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5791" y="2350946"/>
            <a:ext cx="10625430" cy="585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Abstraction: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Implementation of Data Access Objects (DAO) to define database interactions without exposing internal SQL logic.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Inheritance: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Use of extends for UI components and inheriting from base service classes to maintain consistent behavior.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Polymorphism: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Method overriding in different panel classes (DashboardPanel, TransactionsPanel, CategoriesPanel) to handle different data display logic dynamically.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Exception Handling: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Implementation of try-catch-finally blocks for database I/O operations and handling NullPointerExceptions during view binding.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Collections: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Use of List&lt;Transaction&gt;, ArrayList, and Map for data sorting and categorization. HashMaps store expense-by-category data for pie chart visualization.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Threading:</a:t>
            </a:r>
            <a:r>
              <a:rPr lang="en-US" sz="2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Database operations are handled to prevent blocking the Main UI Thread.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06998" y="-168956"/>
            <a:ext cx="798705" cy="11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2"/>
              </a:lnSpc>
            </a:pPr>
            <a:r>
              <a:rPr lang="en-US" sz="6287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431149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07901" y="2905427"/>
            <a:ext cx="8396529" cy="3127707"/>
          </a:xfrm>
          <a:custGeom>
            <a:avLst/>
            <a:gdLst/>
            <a:ahLst/>
            <a:cxnLst/>
            <a:rect r="r" b="b" t="t" l="l"/>
            <a:pathLst>
              <a:path h="3127707" w="8396529">
                <a:moveTo>
                  <a:pt x="0" y="0"/>
                </a:moveTo>
                <a:lnTo>
                  <a:pt x="8396529" y="0"/>
                </a:lnTo>
                <a:lnTo>
                  <a:pt x="8396529" y="3127707"/>
                </a:lnTo>
                <a:lnTo>
                  <a:pt x="0" y="31277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51552" y="2905427"/>
            <a:ext cx="7061036" cy="3127707"/>
          </a:xfrm>
          <a:custGeom>
            <a:avLst/>
            <a:gdLst/>
            <a:ahLst/>
            <a:cxnLst/>
            <a:rect r="r" b="b" t="t" l="l"/>
            <a:pathLst>
              <a:path h="3127707" w="7061036">
                <a:moveTo>
                  <a:pt x="0" y="0"/>
                </a:moveTo>
                <a:lnTo>
                  <a:pt x="7061036" y="0"/>
                </a:lnTo>
                <a:lnTo>
                  <a:pt x="7061036" y="3127707"/>
                </a:lnTo>
                <a:lnTo>
                  <a:pt x="0" y="3127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563873" y="6773309"/>
            <a:ext cx="8396529" cy="3127707"/>
          </a:xfrm>
          <a:custGeom>
            <a:avLst/>
            <a:gdLst/>
            <a:ahLst/>
            <a:cxnLst/>
            <a:rect r="r" b="b" t="t" l="l"/>
            <a:pathLst>
              <a:path h="3127707" w="8396529">
                <a:moveTo>
                  <a:pt x="0" y="0"/>
                </a:moveTo>
                <a:lnTo>
                  <a:pt x="8396529" y="0"/>
                </a:lnTo>
                <a:lnTo>
                  <a:pt x="8396529" y="3127707"/>
                </a:lnTo>
                <a:lnTo>
                  <a:pt x="0" y="31277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7901" y="633608"/>
            <a:ext cx="12407106" cy="137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4"/>
              </a:lnSpc>
            </a:pPr>
            <a:r>
              <a:rPr lang="en-US" b="true" sz="8074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TECHNICAL HIGHLIGHT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06998" y="-168956"/>
            <a:ext cx="798705" cy="11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2"/>
              </a:lnSpc>
            </a:pPr>
            <a:r>
              <a:rPr lang="en-US" sz="6287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7901" y="2279551"/>
            <a:ext cx="839652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Adding a Transaction via Service Layer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51552" y="2279551"/>
            <a:ext cx="839652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Fetching and Displaying Transactions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63873" y="6147434"/>
            <a:ext cx="839652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Exception Handling in the UI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431149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3463" y="2533033"/>
            <a:ext cx="7405579" cy="5220933"/>
          </a:xfrm>
          <a:custGeom>
            <a:avLst/>
            <a:gdLst/>
            <a:ahLst/>
            <a:cxnLst/>
            <a:rect r="r" b="b" t="t" l="l"/>
            <a:pathLst>
              <a:path h="5220933" w="7405579">
                <a:moveTo>
                  <a:pt x="0" y="0"/>
                </a:moveTo>
                <a:lnTo>
                  <a:pt x="7405579" y="0"/>
                </a:lnTo>
                <a:lnTo>
                  <a:pt x="7405579" y="5220934"/>
                </a:lnTo>
                <a:lnTo>
                  <a:pt x="0" y="52209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75899" y="1640905"/>
            <a:ext cx="8383401" cy="3739984"/>
          </a:xfrm>
          <a:custGeom>
            <a:avLst/>
            <a:gdLst/>
            <a:ahLst/>
            <a:cxnLst/>
            <a:rect r="r" b="b" t="t" l="l"/>
            <a:pathLst>
              <a:path h="3739984" w="8383401">
                <a:moveTo>
                  <a:pt x="0" y="0"/>
                </a:moveTo>
                <a:lnTo>
                  <a:pt x="8383401" y="0"/>
                </a:lnTo>
                <a:lnTo>
                  <a:pt x="8383401" y="3739984"/>
                </a:lnTo>
                <a:lnTo>
                  <a:pt x="0" y="37399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5774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75899" y="5990489"/>
            <a:ext cx="8383401" cy="3772718"/>
          </a:xfrm>
          <a:custGeom>
            <a:avLst/>
            <a:gdLst/>
            <a:ahLst/>
            <a:cxnLst/>
            <a:rect r="r" b="b" t="t" l="l"/>
            <a:pathLst>
              <a:path h="3772718" w="8383401">
                <a:moveTo>
                  <a:pt x="0" y="0"/>
                </a:moveTo>
                <a:lnTo>
                  <a:pt x="8383401" y="0"/>
                </a:lnTo>
                <a:lnTo>
                  <a:pt x="8383401" y="3772718"/>
                </a:lnTo>
                <a:lnTo>
                  <a:pt x="0" y="3772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5610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3463" y="727011"/>
            <a:ext cx="5625390" cy="1376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4"/>
              </a:lnSpc>
            </a:pPr>
            <a:r>
              <a:rPr lang="en-US" b="true" sz="8074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LIVE DEMO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06998" y="-168956"/>
            <a:ext cx="798705" cy="11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2"/>
              </a:lnSpc>
            </a:pPr>
            <a:r>
              <a:rPr lang="en-US" sz="6287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85946">
            <a:off x="11884251" y="-770733"/>
            <a:ext cx="10750098" cy="12447482"/>
          </a:xfrm>
          <a:custGeom>
            <a:avLst/>
            <a:gdLst/>
            <a:ahLst/>
            <a:cxnLst/>
            <a:rect r="r" b="b" t="t" l="l"/>
            <a:pathLst>
              <a:path h="12447482" w="10750098">
                <a:moveTo>
                  <a:pt x="0" y="0"/>
                </a:moveTo>
                <a:lnTo>
                  <a:pt x="10750098" y="0"/>
                </a:lnTo>
                <a:lnTo>
                  <a:pt x="10750098" y="12447482"/>
                </a:lnTo>
                <a:lnTo>
                  <a:pt x="0" y="1244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431149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15309" y="4145225"/>
            <a:ext cx="8057381" cy="1796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39"/>
              </a:lnSpc>
            </a:pPr>
            <a:r>
              <a:rPr lang="en-US" b="true" sz="10528">
                <a:solidFill>
                  <a:srgbClr val="00325A"/>
                </a:solidFill>
                <a:latin typeface="Roca Two Bold"/>
                <a:ea typeface="Roca Two Bold"/>
                <a:cs typeface="Roca Two Bold"/>
                <a:sym typeface="Roca Two Bold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06998" y="-168956"/>
            <a:ext cx="798705" cy="11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2"/>
              </a:lnSpc>
            </a:pPr>
            <a:r>
              <a:rPr lang="en-US" sz="6287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56808" y="5732200"/>
            <a:ext cx="8174385" cy="1866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42"/>
              </a:lnSpc>
            </a:pPr>
            <a:r>
              <a:rPr lang="en-US" sz="10887" b="true">
                <a:solidFill>
                  <a:srgbClr val="000000"/>
                </a:solidFill>
                <a:latin typeface="Beautifully Delicious Script Bold"/>
                <a:ea typeface="Beautifully Delicious Script Bold"/>
                <a:cs typeface="Beautifully Delicious Script Bold"/>
                <a:sym typeface="Beautifully Delicious Script Bold"/>
              </a:rPr>
              <a:t>Sangram Keshari Patra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DAHFV5v0y0s</dc:identifier>
  <dcterms:modified xsi:type="dcterms:W3CDTF">2011-08-01T06:04:30Z</dcterms:modified>
  <cp:revision>1</cp:revision>
  <dc:title>White Blue Modern Minimalist Project Presentation</dc:title>
</cp:coreProperties>
</file>