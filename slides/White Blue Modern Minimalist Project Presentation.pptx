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6858000" cy="9144000"/>
  <p:embeddedFontLst>
    <p:embeddedFont>
      <p:font typeface="Beautifully Delicious Script Bold" panose="020B0604020202020204" charset="0"/>
      <p:regular r:id="rId9"/>
    </p:embeddedFont>
    <p:embeddedFont>
      <p:font typeface="Fredoka" panose="020B0604020202020204" charset="0"/>
      <p:regular r:id="rId10"/>
    </p:embeddedFont>
    <p:embeddedFont>
      <p:font typeface="Poppins" panose="020B0502040204020203" pitchFamily="2" charset="0"/>
      <p:regular r:id="rId11"/>
    </p:embeddedFont>
    <p:embeddedFont>
      <p:font typeface="Poppins Bold" panose="020B0604020202020204" charset="0"/>
      <p:regular r:id="rId12"/>
    </p:embeddedFont>
    <p:embeddedFont>
      <p:font typeface="Poppins Bold Italics" panose="020B0604020202020204" charset="0"/>
      <p:regular r:id="rId13"/>
    </p:embeddedFont>
    <p:embeddedFont>
      <p:font typeface="Roca Two" panose="020B0604020202020204" charset="0"/>
      <p:regular r:id="rId14"/>
    </p:embeddedFont>
    <p:embeddedFont>
      <p:font typeface="Roca Two Bold" panose="020B0604020202020204" charset="0"/>
      <p:regular r:id="rId15"/>
    </p:embeddedFont>
    <p:embeddedFont>
      <p:font typeface="Times New Roman MT Bold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0" d="100"/>
          <a:sy n="70" d="100"/>
        </p:scale>
        <p:origin x="48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5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3981926" cy="10287000"/>
          </a:xfrm>
          <a:custGeom>
            <a:avLst/>
            <a:gdLst/>
            <a:ahLst/>
            <a:cxnLst/>
            <a:rect l="l" t="t" r="r" b="b"/>
            <a:pathLst>
              <a:path w="3981926" h="10287000">
                <a:moveTo>
                  <a:pt x="0" y="0"/>
                </a:moveTo>
                <a:lnTo>
                  <a:pt x="3981926" y="0"/>
                </a:lnTo>
                <a:lnTo>
                  <a:pt x="398192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885097">
            <a:off x="11832225" y="-445677"/>
            <a:ext cx="10415786" cy="12060384"/>
          </a:xfrm>
          <a:custGeom>
            <a:avLst/>
            <a:gdLst/>
            <a:ahLst/>
            <a:cxnLst/>
            <a:rect l="l" t="t" r="r" b="b"/>
            <a:pathLst>
              <a:path w="10415786" h="12060384">
                <a:moveTo>
                  <a:pt x="0" y="0"/>
                </a:moveTo>
                <a:lnTo>
                  <a:pt x="10415786" y="0"/>
                </a:lnTo>
                <a:lnTo>
                  <a:pt x="10415786" y="12060384"/>
                </a:lnTo>
                <a:lnTo>
                  <a:pt x="0" y="1206038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3529458" y="1741635"/>
            <a:ext cx="11457797" cy="12350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 dirty="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EXPENSE TRACKER APP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0" y="8398675"/>
            <a:ext cx="8091785" cy="8233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dirty="0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By Sangram Keshari Patra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300744" y="3475185"/>
            <a:ext cx="11939256" cy="18851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sz="3500" dirty="0">
                <a:solidFill>
                  <a:srgbClr val="000000"/>
                </a:solidFill>
                <a:latin typeface="Roca Two"/>
                <a:ea typeface="Roca Two"/>
                <a:cs typeface="Roca Two"/>
                <a:sym typeface="Roca Two"/>
              </a:rPr>
              <a:t>An offline Java application that enables users to securely track, categorize, and visualize their personal expenses and incomes without relying on cloud services.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333878" y="5754665"/>
            <a:ext cx="3620244" cy="2454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>
                <a:solidFill>
                  <a:srgbClr val="000000"/>
                </a:solidFill>
                <a:latin typeface="Roca Two"/>
                <a:ea typeface="Roca Two"/>
                <a:cs typeface="Roca Two"/>
                <a:sym typeface="Roca Two"/>
              </a:rPr>
              <a:t>Target User</a:t>
            </a:r>
          </a:p>
          <a:p>
            <a:pPr marL="755651" lvl="1" indent="-377825" algn="l">
              <a:lnSpc>
                <a:spcPts val="4900"/>
              </a:lnSpc>
              <a:buFont typeface="Arial"/>
              <a:buChar char="•"/>
            </a:pPr>
            <a:r>
              <a:rPr lang="en-US" sz="3500">
                <a:solidFill>
                  <a:srgbClr val="000000"/>
                </a:solidFill>
                <a:latin typeface="Roca Two"/>
                <a:ea typeface="Roca Two"/>
                <a:cs typeface="Roca Two"/>
                <a:sym typeface="Roca Two"/>
              </a:rPr>
              <a:t>Students</a:t>
            </a:r>
          </a:p>
          <a:p>
            <a:pPr marL="755651" lvl="1" indent="-377825" algn="l">
              <a:lnSpc>
                <a:spcPts val="4900"/>
              </a:lnSpc>
              <a:buFont typeface="Arial"/>
              <a:buChar char="•"/>
            </a:pPr>
            <a:r>
              <a:rPr lang="en-US" sz="3500">
                <a:solidFill>
                  <a:srgbClr val="000000"/>
                </a:solidFill>
                <a:latin typeface="Roca Two"/>
                <a:ea typeface="Roca Two"/>
                <a:cs typeface="Roca Two"/>
                <a:sym typeface="Roca Two"/>
              </a:rPr>
              <a:t>freelancers</a:t>
            </a:r>
          </a:p>
          <a:p>
            <a:pPr marL="755651" lvl="1" indent="-377825" algn="l">
              <a:lnSpc>
                <a:spcPts val="4900"/>
              </a:lnSpc>
              <a:buFont typeface="Arial"/>
              <a:buChar char="•"/>
            </a:pPr>
            <a:r>
              <a:rPr lang="en-US" sz="3500">
                <a:solidFill>
                  <a:srgbClr val="000000"/>
                </a:solidFill>
                <a:latin typeface="Roca Two"/>
                <a:ea typeface="Roca Two"/>
                <a:cs typeface="Roca Two"/>
                <a:sym typeface="Roca Two"/>
              </a:rPr>
              <a:t>professionals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176985"/>
            <a:ext cx="16113745" cy="9933030"/>
          </a:xfrm>
          <a:custGeom>
            <a:avLst/>
            <a:gdLst/>
            <a:ahLst/>
            <a:cxnLst/>
            <a:rect l="l" t="t" r="r" b="b"/>
            <a:pathLst>
              <a:path w="16113745" h="9933030">
                <a:moveTo>
                  <a:pt x="0" y="0"/>
                </a:moveTo>
                <a:lnTo>
                  <a:pt x="16113745" y="0"/>
                </a:lnTo>
                <a:lnTo>
                  <a:pt x="16113745" y="9933030"/>
                </a:lnTo>
                <a:lnTo>
                  <a:pt x="0" y="99330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641"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99851" y="2067018"/>
            <a:ext cx="8516960" cy="7840015"/>
          </a:xfrm>
          <a:custGeom>
            <a:avLst/>
            <a:gdLst/>
            <a:ahLst/>
            <a:cxnLst/>
            <a:rect l="l" t="t" r="r" b="b"/>
            <a:pathLst>
              <a:path w="8516960" h="7840015">
                <a:moveTo>
                  <a:pt x="0" y="0"/>
                </a:moveTo>
                <a:lnTo>
                  <a:pt x="8516960" y="0"/>
                </a:lnTo>
                <a:lnTo>
                  <a:pt x="8516960" y="7840015"/>
                </a:lnTo>
                <a:lnTo>
                  <a:pt x="0" y="784001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2" r="-624" b="-552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2009868"/>
            <a:ext cx="8759403" cy="7897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9"/>
              </a:lnSpc>
            </a:pPr>
            <a:r>
              <a:rPr lang="en-US" sz="1992" b="1">
                <a:solidFill>
                  <a:srgbClr val="004AAD"/>
                </a:solidFill>
                <a:latin typeface="Poppins Bold"/>
                <a:ea typeface="Poppins Bold"/>
                <a:cs typeface="Poppins Bold"/>
                <a:sym typeface="Poppins Bold"/>
              </a:rPr>
              <a:t>UI Layer (ui package)</a:t>
            </a:r>
          </a:p>
          <a:p>
            <a:pPr algn="l">
              <a:lnSpc>
                <a:spcPts val="2231"/>
              </a:lnSpc>
            </a:pPr>
            <a:r>
              <a:rPr lang="en-US" sz="1593" b="1" i="1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MainFrame - </a:t>
            </a:r>
            <a:r>
              <a:rPr lang="en-US" sz="159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ui (DashboardPanel, TransactionsPanel, CategoriesPanel), service (AppService)</a:t>
            </a:r>
          </a:p>
          <a:p>
            <a:pPr algn="l">
              <a:lnSpc>
                <a:spcPts val="2231"/>
              </a:lnSpc>
            </a:pPr>
            <a:r>
              <a:rPr lang="en-US" sz="1593" b="1" i="1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DashboardPanel - </a:t>
            </a:r>
            <a:r>
              <a:rPr lang="en-US" sz="159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service (AppService), model (Transaction, Category), util (AppUtils)</a:t>
            </a:r>
          </a:p>
          <a:p>
            <a:pPr algn="l">
              <a:lnSpc>
                <a:spcPts val="2231"/>
              </a:lnSpc>
            </a:pPr>
            <a:r>
              <a:rPr lang="en-US" sz="1593" b="1" i="1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TransactionsPanel - </a:t>
            </a:r>
            <a:r>
              <a:rPr lang="en-US" sz="159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service (AppService), model (Transaction, Expense, Income, Category), util (AppUtils)</a:t>
            </a:r>
          </a:p>
          <a:p>
            <a:pPr algn="l">
              <a:lnSpc>
                <a:spcPts val="2231"/>
              </a:lnSpc>
            </a:pPr>
            <a:r>
              <a:rPr lang="en-US" sz="1593" b="1" i="1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CategoriesPanel - </a:t>
            </a:r>
            <a:r>
              <a:rPr lang="en-US" sz="159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service (AppService), model (Category)</a:t>
            </a:r>
          </a:p>
          <a:p>
            <a:pPr algn="l">
              <a:lnSpc>
                <a:spcPts val="2231"/>
              </a:lnSpc>
            </a:pPr>
            <a:endParaRPr lang="en-US" sz="1593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2789"/>
              </a:lnSpc>
            </a:pPr>
            <a:r>
              <a:rPr lang="en-US" sz="1992" b="1">
                <a:solidFill>
                  <a:srgbClr val="004AAD"/>
                </a:solidFill>
                <a:latin typeface="Poppins Bold"/>
                <a:ea typeface="Poppins Bold"/>
                <a:cs typeface="Poppins Bold"/>
                <a:sym typeface="Poppins Bold"/>
              </a:rPr>
              <a:t>Service Layer (service package)</a:t>
            </a:r>
          </a:p>
          <a:p>
            <a:pPr algn="l">
              <a:lnSpc>
                <a:spcPts val="2231"/>
              </a:lnSpc>
            </a:pPr>
            <a:r>
              <a:rPr lang="en-US" sz="1594" b="1" i="1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AppService - </a:t>
            </a:r>
            <a:r>
              <a:rPr lang="en-US" sz="1594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database (DatabaseManager), model (Transaction, Expense, Income, Category), util (AppUtils), exception (AppException)</a:t>
            </a:r>
          </a:p>
          <a:p>
            <a:pPr algn="l">
              <a:lnSpc>
                <a:spcPts val="2231"/>
              </a:lnSpc>
            </a:pPr>
            <a:endParaRPr lang="en-US" sz="1594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2789"/>
              </a:lnSpc>
            </a:pPr>
            <a:r>
              <a:rPr lang="en-US" sz="1992" b="1">
                <a:solidFill>
                  <a:srgbClr val="004AAD"/>
                </a:solidFill>
                <a:latin typeface="Poppins Bold"/>
                <a:ea typeface="Poppins Bold"/>
                <a:cs typeface="Poppins Bold"/>
                <a:sym typeface="Poppins Bold"/>
              </a:rPr>
              <a:t>Model Layer (model package)</a:t>
            </a:r>
          </a:p>
          <a:p>
            <a:pPr algn="l">
              <a:lnSpc>
                <a:spcPts val="2231"/>
              </a:lnSpc>
            </a:pPr>
            <a:r>
              <a:rPr lang="en-US" sz="1594" b="1" i="1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Transaction (abstract) - </a:t>
            </a:r>
            <a:r>
              <a:rPr lang="en-US" sz="1594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model (Category), java.time (LocalDateTime)</a:t>
            </a:r>
          </a:p>
          <a:p>
            <a:pPr algn="l">
              <a:lnSpc>
                <a:spcPts val="2231"/>
              </a:lnSpc>
            </a:pPr>
            <a:r>
              <a:rPr lang="en-US" sz="1594" b="1" i="1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Expense - </a:t>
            </a:r>
            <a:r>
              <a:rPr lang="en-US" sz="1594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model (Transaction, Category)</a:t>
            </a:r>
          </a:p>
          <a:p>
            <a:pPr algn="l">
              <a:lnSpc>
                <a:spcPts val="2231"/>
              </a:lnSpc>
            </a:pPr>
            <a:r>
              <a:rPr lang="en-US" sz="1594" b="1" i="1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Income - </a:t>
            </a:r>
            <a:r>
              <a:rPr lang="en-US" sz="1594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model (Transaction, Category)</a:t>
            </a:r>
          </a:p>
          <a:p>
            <a:pPr algn="l">
              <a:lnSpc>
                <a:spcPts val="2231"/>
              </a:lnSpc>
            </a:pPr>
            <a:endParaRPr lang="en-US" sz="1594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2789"/>
              </a:lnSpc>
            </a:pPr>
            <a:r>
              <a:rPr lang="en-US" sz="1992" b="1">
                <a:solidFill>
                  <a:srgbClr val="004AAD"/>
                </a:solidFill>
                <a:latin typeface="Poppins Bold"/>
                <a:ea typeface="Poppins Bold"/>
                <a:cs typeface="Poppins Bold"/>
                <a:sym typeface="Poppins Bold"/>
              </a:rPr>
              <a:t>Database Layer (database package)</a:t>
            </a:r>
          </a:p>
          <a:p>
            <a:pPr algn="l">
              <a:lnSpc>
                <a:spcPts val="2231"/>
              </a:lnSpc>
            </a:pPr>
            <a:r>
              <a:rPr lang="en-US" sz="1594" b="1" i="1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DatabaseManager - </a:t>
            </a:r>
            <a:r>
              <a:rPr lang="en-US" sz="1594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model (Transaction, Expense, Income, Category), java.sql (Connection, ResultSet, etc.), util (AppUtils)</a:t>
            </a:r>
          </a:p>
          <a:p>
            <a:pPr algn="l">
              <a:lnSpc>
                <a:spcPts val="2231"/>
              </a:lnSpc>
            </a:pPr>
            <a:endParaRPr lang="en-US" sz="1594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2789"/>
              </a:lnSpc>
            </a:pPr>
            <a:r>
              <a:rPr lang="en-US" sz="1992" b="1">
                <a:solidFill>
                  <a:srgbClr val="004AAD"/>
                </a:solidFill>
                <a:latin typeface="Poppins Bold"/>
                <a:ea typeface="Poppins Bold"/>
                <a:cs typeface="Poppins Bold"/>
                <a:sym typeface="Poppins Bold"/>
              </a:rPr>
              <a:t>Utility Layer (util package)</a:t>
            </a:r>
          </a:p>
          <a:p>
            <a:pPr algn="l">
              <a:lnSpc>
                <a:spcPts val="2231"/>
              </a:lnSpc>
            </a:pPr>
            <a:r>
              <a:rPr lang="en-US" sz="1594" b="1" i="1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AppUtils</a:t>
            </a:r>
            <a:r>
              <a:rPr lang="en-US" sz="1594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- java.time (LocalDate, LocalDateTime, YearMonth), java.time.format (DateTimeFormatter)</a:t>
            </a:r>
          </a:p>
          <a:p>
            <a:pPr algn="l">
              <a:lnSpc>
                <a:spcPts val="2231"/>
              </a:lnSpc>
            </a:pPr>
            <a:endParaRPr lang="en-US" sz="1594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2789"/>
              </a:lnSpc>
            </a:pPr>
            <a:r>
              <a:rPr lang="en-US" sz="1992" b="1">
                <a:solidFill>
                  <a:srgbClr val="004AAD"/>
                </a:solidFill>
                <a:latin typeface="Poppins Bold"/>
                <a:ea typeface="Poppins Bold"/>
                <a:cs typeface="Poppins Bold"/>
                <a:sym typeface="Poppins Bold"/>
              </a:rPr>
              <a:t>Exception Layer (exception package)</a:t>
            </a:r>
          </a:p>
          <a:p>
            <a:pPr algn="l">
              <a:lnSpc>
                <a:spcPts val="2231"/>
              </a:lnSpc>
            </a:pPr>
            <a:r>
              <a:rPr lang="en-US" sz="1594" b="1" i="1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AppException</a:t>
            </a:r>
            <a:r>
              <a:rPr lang="en-US" sz="1594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- java.lang (Exception / RuntimeException)</a:t>
            </a:r>
          </a:p>
        </p:txBody>
      </p:sp>
      <p:sp>
        <p:nvSpPr>
          <p:cNvPr id="4" name="AutoShape 4"/>
          <p:cNvSpPr/>
          <p:nvPr/>
        </p:nvSpPr>
        <p:spPr>
          <a:xfrm>
            <a:off x="0" y="431149"/>
            <a:ext cx="976213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TextBox 5"/>
          <p:cNvSpPr txBox="1"/>
          <p:nvPr/>
        </p:nvSpPr>
        <p:spPr>
          <a:xfrm>
            <a:off x="10106998" y="-168956"/>
            <a:ext cx="798705" cy="1197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802"/>
              </a:lnSpc>
            </a:pPr>
            <a:r>
              <a:rPr lang="en-US" sz="6287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65967" y="690209"/>
            <a:ext cx="8384728" cy="13768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304"/>
              </a:lnSpc>
            </a:pPr>
            <a:r>
              <a:rPr lang="en-US" sz="8074" b="1">
                <a:solidFill>
                  <a:srgbClr val="00325A"/>
                </a:solidFill>
                <a:latin typeface="Roca Two Bold"/>
                <a:ea typeface="Roca Two Bold"/>
                <a:cs typeface="Roca Two Bold"/>
                <a:sym typeface="Roca Two Bold"/>
              </a:rPr>
              <a:t>SYSTEM DESIGN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83051">
            <a:off x="11093067" y="-872901"/>
            <a:ext cx="10750098" cy="12447482"/>
          </a:xfrm>
          <a:custGeom>
            <a:avLst/>
            <a:gdLst/>
            <a:ahLst/>
            <a:cxnLst/>
            <a:rect l="l" t="t" r="r" b="b"/>
            <a:pathLst>
              <a:path w="10750098" h="12447482">
                <a:moveTo>
                  <a:pt x="0" y="0"/>
                </a:moveTo>
                <a:lnTo>
                  <a:pt x="10750099" y="0"/>
                </a:lnTo>
                <a:lnTo>
                  <a:pt x="10750099" y="12447482"/>
                </a:lnTo>
                <a:lnTo>
                  <a:pt x="0" y="124474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AutoShape 3"/>
          <p:cNvSpPr/>
          <p:nvPr/>
        </p:nvSpPr>
        <p:spPr>
          <a:xfrm>
            <a:off x="0" y="431149"/>
            <a:ext cx="976213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/>
          <p:cNvSpPr txBox="1"/>
          <p:nvPr/>
        </p:nvSpPr>
        <p:spPr>
          <a:xfrm>
            <a:off x="385791" y="664542"/>
            <a:ext cx="8107814" cy="13768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304"/>
              </a:lnSpc>
            </a:pPr>
            <a:r>
              <a:rPr lang="en-US" sz="8074" b="1">
                <a:solidFill>
                  <a:srgbClr val="00325A"/>
                </a:solidFill>
                <a:latin typeface="Roca Two Bold"/>
                <a:ea typeface="Roca Two Bold"/>
                <a:cs typeface="Roca Two Bold"/>
                <a:sym typeface="Roca Two Bold"/>
              </a:rPr>
              <a:t>OOP CONCEPTS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85791" y="2350946"/>
            <a:ext cx="10625430" cy="585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79" lvl="1" indent="-237490" algn="l">
              <a:lnSpc>
                <a:spcPts val="3079"/>
              </a:lnSpc>
              <a:buFont typeface="Arial"/>
              <a:buChar char="•"/>
            </a:pPr>
            <a:r>
              <a:rPr lang="en-US" sz="21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Abstraction:</a:t>
            </a:r>
            <a:r>
              <a:rPr lang="en-US" sz="21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Implementation of Data Access Objects (DAO) to define database interactions without exposing internal SQL logic.</a:t>
            </a:r>
          </a:p>
          <a:p>
            <a:pPr marL="474979" lvl="1" indent="-237490" algn="l">
              <a:lnSpc>
                <a:spcPts val="3079"/>
              </a:lnSpc>
              <a:buFont typeface="Arial"/>
              <a:buChar char="•"/>
            </a:pPr>
            <a:r>
              <a:rPr lang="en-US" sz="21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Inheritance:</a:t>
            </a:r>
            <a:r>
              <a:rPr lang="en-US" sz="21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Use of extends for UI components and inheriting from base service classes to maintain consistent behavior.</a:t>
            </a:r>
          </a:p>
          <a:p>
            <a:pPr marL="474979" lvl="1" indent="-237490" algn="l">
              <a:lnSpc>
                <a:spcPts val="3079"/>
              </a:lnSpc>
              <a:buFont typeface="Arial"/>
              <a:buChar char="•"/>
            </a:pPr>
            <a:r>
              <a:rPr lang="en-US" sz="21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Polymorphism:</a:t>
            </a:r>
            <a:r>
              <a:rPr lang="en-US" sz="21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Method overriding in different panel classes (DashboardPanel, TransactionsPanel, CategoriesPanel) to handle different data display logic dynamically.</a:t>
            </a:r>
          </a:p>
          <a:p>
            <a:pPr marL="474979" lvl="1" indent="-237490" algn="l">
              <a:lnSpc>
                <a:spcPts val="3079"/>
              </a:lnSpc>
              <a:buFont typeface="Arial"/>
              <a:buChar char="•"/>
            </a:pPr>
            <a:r>
              <a:rPr lang="en-US" sz="21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Exception Handling:</a:t>
            </a:r>
            <a:r>
              <a:rPr lang="en-US" sz="21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Implementation of try-catch-finally blocks for database I/O operations and handling NullPointerExceptions during view binding.</a:t>
            </a:r>
          </a:p>
          <a:p>
            <a:pPr marL="474979" lvl="1" indent="-237490" algn="l">
              <a:lnSpc>
                <a:spcPts val="3079"/>
              </a:lnSpc>
              <a:buFont typeface="Arial"/>
              <a:buChar char="•"/>
            </a:pPr>
            <a:r>
              <a:rPr lang="en-US" sz="21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Collections:</a:t>
            </a:r>
            <a:r>
              <a:rPr lang="en-US" sz="21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Use of List&lt;Transaction&gt;, ArrayList, and Map for data sorting and categorization. HashMaps store expense-by-category data for pie chart visualization.</a:t>
            </a:r>
          </a:p>
          <a:p>
            <a:pPr marL="474979" lvl="1" indent="-237490" algn="l">
              <a:lnSpc>
                <a:spcPts val="3079"/>
              </a:lnSpc>
              <a:buFont typeface="Arial"/>
              <a:buChar char="•"/>
            </a:pPr>
            <a:r>
              <a:rPr lang="en-US" sz="21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Threading:</a:t>
            </a:r>
            <a:r>
              <a:rPr lang="en-US" sz="21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Database operations are handled to prevent blocking the Main UI Thread.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106998" y="-168956"/>
            <a:ext cx="798705" cy="1197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802"/>
              </a:lnSpc>
            </a:pPr>
            <a:r>
              <a:rPr lang="en-US" sz="6287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431149"/>
            <a:ext cx="976213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Freeform 3"/>
          <p:cNvSpPr/>
          <p:nvPr/>
        </p:nvSpPr>
        <p:spPr>
          <a:xfrm>
            <a:off x="507901" y="2905427"/>
            <a:ext cx="8396529" cy="3127707"/>
          </a:xfrm>
          <a:custGeom>
            <a:avLst/>
            <a:gdLst/>
            <a:ahLst/>
            <a:cxnLst/>
            <a:rect l="l" t="t" r="r" b="b"/>
            <a:pathLst>
              <a:path w="8396529" h="3127707">
                <a:moveTo>
                  <a:pt x="0" y="0"/>
                </a:moveTo>
                <a:lnTo>
                  <a:pt x="8396529" y="0"/>
                </a:lnTo>
                <a:lnTo>
                  <a:pt x="8396529" y="3127707"/>
                </a:lnTo>
                <a:lnTo>
                  <a:pt x="0" y="312770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9351552" y="2905427"/>
            <a:ext cx="7061036" cy="3127707"/>
          </a:xfrm>
          <a:custGeom>
            <a:avLst/>
            <a:gdLst/>
            <a:ahLst/>
            <a:cxnLst/>
            <a:rect l="l" t="t" r="r" b="b"/>
            <a:pathLst>
              <a:path w="7061036" h="3127707">
                <a:moveTo>
                  <a:pt x="0" y="0"/>
                </a:moveTo>
                <a:lnTo>
                  <a:pt x="7061036" y="0"/>
                </a:lnTo>
                <a:lnTo>
                  <a:pt x="7061036" y="3127707"/>
                </a:lnTo>
                <a:lnTo>
                  <a:pt x="0" y="31277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5563873" y="6773309"/>
            <a:ext cx="8396529" cy="3127707"/>
          </a:xfrm>
          <a:custGeom>
            <a:avLst/>
            <a:gdLst/>
            <a:ahLst/>
            <a:cxnLst/>
            <a:rect l="l" t="t" r="r" b="b"/>
            <a:pathLst>
              <a:path w="8396529" h="3127707">
                <a:moveTo>
                  <a:pt x="0" y="0"/>
                </a:moveTo>
                <a:lnTo>
                  <a:pt x="8396529" y="0"/>
                </a:lnTo>
                <a:lnTo>
                  <a:pt x="8396529" y="3127707"/>
                </a:lnTo>
                <a:lnTo>
                  <a:pt x="0" y="312770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507901" y="633608"/>
            <a:ext cx="12407106" cy="13768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304"/>
              </a:lnSpc>
            </a:pPr>
            <a:r>
              <a:rPr lang="en-US" sz="8074" b="1">
                <a:solidFill>
                  <a:srgbClr val="00325A"/>
                </a:solidFill>
                <a:latin typeface="Roca Two Bold"/>
                <a:ea typeface="Roca Two Bold"/>
                <a:cs typeface="Roca Two Bold"/>
                <a:sym typeface="Roca Two Bold"/>
              </a:rPr>
              <a:t>TECHNICAL HIGHLIGHT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106998" y="-168956"/>
            <a:ext cx="798705" cy="1197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802"/>
              </a:lnSpc>
            </a:pPr>
            <a:r>
              <a:rPr lang="en-US" sz="6287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04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07901" y="2279551"/>
            <a:ext cx="8396529" cy="441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Adding a Transaction via Service Layer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351552" y="2279551"/>
            <a:ext cx="8396529" cy="441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Fetching and Displaying Transactions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563873" y="6147434"/>
            <a:ext cx="8396529" cy="441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Exception Handling in the UI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431149"/>
            <a:ext cx="976213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Freeform 3"/>
          <p:cNvSpPr/>
          <p:nvPr/>
        </p:nvSpPr>
        <p:spPr>
          <a:xfrm>
            <a:off x="673463" y="2533033"/>
            <a:ext cx="7405579" cy="5220933"/>
          </a:xfrm>
          <a:custGeom>
            <a:avLst/>
            <a:gdLst/>
            <a:ahLst/>
            <a:cxnLst/>
            <a:rect l="l" t="t" r="r" b="b"/>
            <a:pathLst>
              <a:path w="7405579" h="5220933">
                <a:moveTo>
                  <a:pt x="0" y="0"/>
                </a:moveTo>
                <a:lnTo>
                  <a:pt x="7405579" y="0"/>
                </a:lnTo>
                <a:lnTo>
                  <a:pt x="7405579" y="5220934"/>
                </a:lnTo>
                <a:lnTo>
                  <a:pt x="0" y="52209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8875899" y="1640905"/>
            <a:ext cx="8383401" cy="3739984"/>
          </a:xfrm>
          <a:custGeom>
            <a:avLst/>
            <a:gdLst/>
            <a:ahLst/>
            <a:cxnLst/>
            <a:rect l="l" t="t" r="r" b="b"/>
            <a:pathLst>
              <a:path w="8383401" h="3739984">
                <a:moveTo>
                  <a:pt x="0" y="0"/>
                </a:moveTo>
                <a:lnTo>
                  <a:pt x="8383401" y="0"/>
                </a:lnTo>
                <a:lnTo>
                  <a:pt x="8383401" y="3739984"/>
                </a:lnTo>
                <a:lnTo>
                  <a:pt x="0" y="37399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57749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875899" y="5990489"/>
            <a:ext cx="8383401" cy="3772718"/>
          </a:xfrm>
          <a:custGeom>
            <a:avLst/>
            <a:gdLst/>
            <a:ahLst/>
            <a:cxnLst/>
            <a:rect l="l" t="t" r="r" b="b"/>
            <a:pathLst>
              <a:path w="8383401" h="3772718">
                <a:moveTo>
                  <a:pt x="0" y="0"/>
                </a:moveTo>
                <a:lnTo>
                  <a:pt x="8383401" y="0"/>
                </a:lnTo>
                <a:lnTo>
                  <a:pt x="8383401" y="3772718"/>
                </a:lnTo>
                <a:lnTo>
                  <a:pt x="0" y="377271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56103"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673463" y="727011"/>
            <a:ext cx="5625390" cy="13768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304"/>
              </a:lnSpc>
            </a:pPr>
            <a:r>
              <a:rPr lang="en-US" sz="8074" b="1">
                <a:solidFill>
                  <a:srgbClr val="00325A"/>
                </a:solidFill>
                <a:latin typeface="Roca Two Bold"/>
                <a:ea typeface="Roca Two Bold"/>
                <a:cs typeface="Roca Two Bold"/>
                <a:sym typeface="Roca Two Bold"/>
              </a:rPr>
              <a:t>LIVE DEMO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106998" y="-168956"/>
            <a:ext cx="798705" cy="1197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802"/>
              </a:lnSpc>
            </a:pPr>
            <a:r>
              <a:rPr lang="en-US" sz="6287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85946">
            <a:off x="11884251" y="-770733"/>
            <a:ext cx="10750098" cy="12447482"/>
          </a:xfrm>
          <a:custGeom>
            <a:avLst/>
            <a:gdLst/>
            <a:ahLst/>
            <a:cxnLst/>
            <a:rect l="l" t="t" r="r" b="b"/>
            <a:pathLst>
              <a:path w="10750098" h="12447482">
                <a:moveTo>
                  <a:pt x="0" y="0"/>
                </a:moveTo>
                <a:lnTo>
                  <a:pt x="10750098" y="0"/>
                </a:lnTo>
                <a:lnTo>
                  <a:pt x="10750098" y="12447482"/>
                </a:lnTo>
                <a:lnTo>
                  <a:pt x="0" y="124474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AutoShape 3"/>
          <p:cNvSpPr/>
          <p:nvPr/>
        </p:nvSpPr>
        <p:spPr>
          <a:xfrm>
            <a:off x="0" y="431149"/>
            <a:ext cx="976213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/>
          <p:cNvSpPr/>
          <p:nvPr/>
        </p:nvSpPr>
        <p:spPr>
          <a:xfrm rot="-10800000">
            <a:off x="0" y="6748170"/>
            <a:ext cx="7077660" cy="7077660"/>
          </a:xfrm>
          <a:custGeom>
            <a:avLst/>
            <a:gdLst/>
            <a:ahLst/>
            <a:cxnLst/>
            <a:rect l="l" t="t" r="r" b="b"/>
            <a:pathLst>
              <a:path w="7077660" h="7077660">
                <a:moveTo>
                  <a:pt x="0" y="0"/>
                </a:moveTo>
                <a:lnTo>
                  <a:pt x="7077660" y="0"/>
                </a:lnTo>
                <a:lnTo>
                  <a:pt x="7077660" y="7077660"/>
                </a:lnTo>
                <a:lnTo>
                  <a:pt x="0" y="70776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115309" y="4145225"/>
            <a:ext cx="8057381" cy="17965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739"/>
              </a:lnSpc>
            </a:pPr>
            <a:r>
              <a:rPr lang="en-US" sz="10528" b="1">
                <a:solidFill>
                  <a:srgbClr val="00325A"/>
                </a:solidFill>
                <a:latin typeface="Roca Two Bold"/>
                <a:ea typeface="Roca Two Bold"/>
                <a:cs typeface="Roca Two Bold"/>
                <a:sym typeface="Roca Two Bold"/>
              </a:rPr>
              <a:t>THANK YOU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106998" y="-168956"/>
            <a:ext cx="798705" cy="1197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802"/>
              </a:lnSpc>
            </a:pPr>
            <a:r>
              <a:rPr lang="en-US" sz="6287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06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056808" y="5732200"/>
            <a:ext cx="8174385" cy="18665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242"/>
              </a:lnSpc>
            </a:pPr>
            <a:r>
              <a:rPr lang="en-US" sz="10887" b="1">
                <a:solidFill>
                  <a:srgbClr val="000000"/>
                </a:solidFill>
                <a:latin typeface="Beautifully Delicious Script Bold"/>
                <a:ea typeface="Beautifully Delicious Script Bold"/>
                <a:cs typeface="Beautifully Delicious Script Bold"/>
                <a:sym typeface="Beautifully Delicious Script Bold"/>
              </a:rPr>
              <a:t>Sangram Keshari Patra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401</Words>
  <Application>Microsoft Office PowerPoint</Application>
  <PresentationFormat>Custom</PresentationFormat>
  <Paragraphs>49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8" baseType="lpstr">
      <vt:lpstr>Poppins Bold Italics</vt:lpstr>
      <vt:lpstr>Roca Two Bold</vt:lpstr>
      <vt:lpstr>Poppins Bold</vt:lpstr>
      <vt:lpstr>Times New Roman MT Bold</vt:lpstr>
      <vt:lpstr>Arial</vt:lpstr>
      <vt:lpstr>Poppins</vt:lpstr>
      <vt:lpstr>Roca Two</vt:lpstr>
      <vt:lpstr>Beautifully Delicious Script Bold</vt:lpstr>
      <vt:lpstr>Fredoka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White Blue Modern Minimalist Project Presentation</dc:title>
  <cp:lastModifiedBy>SANGRAM</cp:lastModifiedBy>
  <cp:revision>2</cp:revision>
  <dcterms:created xsi:type="dcterms:W3CDTF">2006-08-16T00:00:00Z</dcterms:created>
  <dcterms:modified xsi:type="dcterms:W3CDTF">2026-03-29T18:22:53Z</dcterms:modified>
  <dc:identifier>DAHFV5v0y0s</dc:identifier>
</cp:coreProperties>
</file>